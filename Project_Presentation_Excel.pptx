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omments/comment3.xml" ContentType="application/vnd.openxmlformats-officedocument.presentationml.comments+xml"/>
  <Override PartName="/ppt/notesSlides/notesSlide20.xml" ContentType="application/vnd.openxmlformats-officedocument.presentationml.notesSlide+xml"/>
  <Override PartName="/ppt/comments/comment4.xml" ContentType="application/vnd.openxmlformats-officedocument.presentationml.comments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embeddedFontLst>
    <p:embeddedFont>
      <p:font typeface="Merriweather" panose="020B0604020202020204" charset="-52"/>
      <p:regular r:id="rId24"/>
      <p:bold r:id="rId25"/>
      <p:italic r:id="rId26"/>
      <p:boldItalic r:id="rId27"/>
    </p:embeddedFont>
    <p:embeddedFont>
      <p:font typeface="Roboto" panose="020B060402020202020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Олеся Емельянова" initials="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6-16T17:24:25.918" idx="1">
    <p:pos x="96" y="96"/>
    <p:text>расписать что за линии, расшифровать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6-16T17:23:18.702" idx="2">
    <p:pos x="2925" y="315"/>
    <p:text>Расписать акцию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6-16T17:25:43.226" idx="3">
    <p:pos x="6000" y="0"/>
    <p:text>нолик убрать с графика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6-16T17:27:13.661" idx="4">
    <p:pos x="6000" y="0"/>
    <p:text>уменьшение потерь в % при бинировании скидок</p:tex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ec232fb79d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ec232fb79d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ec232fb79d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ec232fb79d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ec232fb79d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ec232fb79d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ec232fb79d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ec232fb79d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c232fb79d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ec232fb79d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c232fb79d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ec232fb79d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ec232fb79d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ec232fb79d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ec232fb79d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ec232fb79d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ec232fb79d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ec232fb79d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ec232fb79d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ec232fb79d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c29d25d1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ec29d25d1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ec29d25d10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ec29d25d10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ec29d25d10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ec29d25d10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ec29d25d10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ec29d25d10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ec29d25d10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ec29d25d10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ec29d25d10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ec29d25d10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ec29d25d10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ec29d25d10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ec29d25d10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ec29d25d10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ec29d25d10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ec29d25d10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ee791b5ac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ee791b5ac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3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avLst/>
            <a:gdLst/>
            <a:ahLst/>
            <a:cxnLst/>
            <a:rect l="l" t="t" r="r" b="b"/>
            <a:pathLst>
              <a:path w="172545" h="175975" extrusionOk="0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avLst/>
            <a:gdLst/>
            <a:ahLst/>
            <a:cxnLst/>
            <a:rect l="l" t="t" r="r" b="b"/>
            <a:pathLst>
              <a:path w="172676" h="175824" extrusionOk="0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2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>
            <a:spLocks noGrp="1"/>
          </p:cNvSpPr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ubTitle" idx="1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2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body" idx="1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title" hasCustomPrompt="1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>
            <a:spLocks noGrp="1"/>
          </p:cNvSpPr>
          <p:nvPr>
            <p:ph type="body" idx="1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aradigm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4" Type="http://schemas.openxmlformats.org/officeDocument/2006/relationships/comments" Target="../comments/commen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Relationship Id="rId4" Type="http://schemas.openxmlformats.org/officeDocument/2006/relationships/comments" Target="../comments/commen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4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-kDol0LqwEwBdeqcmpO_O1nbA1b4zWnPOxqM0zpXlak/edit?gid=1678241372#gid=1678241372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>
            <a:spLocks noGrp="1"/>
          </p:cNvSpPr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Аналитика инцидентов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1-7 сентября </a:t>
            </a:r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subTitle" idx="1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Инфографика результатов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Содержание</a:t>
            </a:r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body" idx="1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Рост количества транзакций 1-4 сентября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ru"/>
              <a:t>Анализ количества транзакций по дням и торговым точкам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ru"/>
              <a:t>Анализ нагрузки на сервера и поиск решения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ru"/>
              <a:t>Влияние касс самообслуживания на длительность транзакций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Анализ транзакций 5-7 сентября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ru"/>
              <a:t>Анализ технических сбоев и их влияния на продолжительность транзакций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ru"/>
              <a:t>Анализ результатов маркетинговой акции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ru"/>
              <a:t>Сегментирование скидок и увеличение прибыли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Автоматизация отчетности 1-7 сентября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ru"/>
              <a:t>Описание отчетности и инструкции к ней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ru"/>
              <a:t>Презентация разработанного инструментария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>
            <a:spLocks noGrp="1"/>
          </p:cNvSpPr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Анализ инцидентов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1-4 сентября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Рост количества транзакций: анализ причин</a:t>
            </a:r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1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Рост транзакций по сети в динамике по дням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Открытие ТТ на ул. Чертановской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Гипотеза: ТТ на ул. Чертановской каннибализировала продажи на Симферопольском б-ре</a:t>
            </a:r>
            <a:endParaRPr/>
          </a:p>
        </p:txBody>
      </p:sp>
      <p:pic>
        <p:nvPicPr>
          <p:cNvPr id="83" name="Google Shape;8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4750" y="171300"/>
            <a:ext cx="3536808" cy="221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27048" y="2571750"/>
            <a:ext cx="4172202" cy="240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body" idx="1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Каннибализация продаж на Симфероповском б-ре точкой на ул. Чертановская</a:t>
            </a:r>
            <a:endParaRPr/>
          </a:p>
        </p:txBody>
      </p:sp>
      <p:pic>
        <p:nvPicPr>
          <p:cNvPr id="90" name="Google Shape;9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2275" y="217475"/>
            <a:ext cx="6999450" cy="389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Резкий рост кол-ва транзакций на 3 сервере 3 сентября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Причина - открытие точки на ул. Чертановской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К 3 серверу привязаны ТТ на ул. Чертановская и Ракетном б-ре</a:t>
            </a:r>
            <a:endParaRPr/>
          </a:p>
        </p:txBody>
      </p:sp>
      <p:sp>
        <p:nvSpPr>
          <p:cNvPr id="96" name="Google Shape;96;p18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 что с нагрузкой на сервера?</a:t>
            </a:r>
            <a:endParaRPr/>
          </a:p>
        </p:txBody>
      </p:sp>
      <p:pic>
        <p:nvPicPr>
          <p:cNvPr id="97" name="Google Shape;9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9825" y="397963"/>
            <a:ext cx="4538301" cy="203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23625" y="2571762"/>
            <a:ext cx="4279187" cy="2405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Решение: перераспреде- ление нагрузки</a:t>
            </a:r>
            <a:endParaRPr/>
          </a:p>
        </p:txBody>
      </p:sp>
      <p:sp>
        <p:nvSpPr>
          <p:cNvPr id="104" name="Google Shape;104;p19"/>
          <p:cNvSpPr txBox="1">
            <a:spLocks noGrp="1"/>
          </p:cNvSpPr>
          <p:nvPr>
            <p:ph type="body" idx="1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Перевод ТТ на Ракетном б-ре на самый свободный сервер 1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К 1 серверу привязана в т.ч. каннибализированная ТТ на Симферопольском б-ре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Итог: сглаживание роста нагрузки</a:t>
            </a:r>
            <a:endParaRPr/>
          </a:p>
        </p:txBody>
      </p:sp>
      <p:pic>
        <p:nvPicPr>
          <p:cNvPr id="105" name="Google Shape;10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228025"/>
            <a:ext cx="3706275" cy="206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48462" y="2505575"/>
            <a:ext cx="3953350" cy="224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Кассы самообслу-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живания (КСО)</a:t>
            </a:r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body" idx="1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В районе Симферопольского бульвара и Чертановской ул. КС в приоритете у покупателей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После открытия ТТ на ул.Чертановской выросло число транзакций на КС</a:t>
            </a:r>
            <a:endParaRPr/>
          </a:p>
        </p:txBody>
      </p:sp>
      <p:pic>
        <p:nvPicPr>
          <p:cNvPr id="113" name="Google Shape;11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5934" y="205800"/>
            <a:ext cx="4574941" cy="241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3787" y="2694225"/>
            <a:ext cx="4039219" cy="229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Влияние КСО на время транзакции</a:t>
            </a:r>
            <a:endParaRPr/>
          </a:p>
        </p:txBody>
      </p:sp>
      <p:sp>
        <p:nvSpPr>
          <p:cNvPr id="120" name="Google Shape;120;p21"/>
          <p:cNvSpPr txBox="1">
            <a:spLocks noGrp="1"/>
          </p:cNvSpPr>
          <p:nvPr>
            <p:ph type="body" idx="1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Вместе с увеличением кол-ва транзакций через КС выросла и продолжительность транзакций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Вывод: транзакции на КС занимают больше времени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 b="1"/>
              <a:t>Но почему такие долгие транзакции 1 сентября?</a:t>
            </a:r>
            <a:endParaRPr b="1"/>
          </a:p>
        </p:txBody>
      </p:sp>
      <p:pic>
        <p:nvPicPr>
          <p:cNvPr id="121" name="Google Shape;12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9625" y="223675"/>
            <a:ext cx="3972175" cy="225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39625" y="2664275"/>
            <a:ext cx="3972175" cy="22555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body" idx="1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Долгие транзакции на ул. Щорса (2-7 часов) и в ЮЗАО (10-16 часов)</a:t>
            </a:r>
            <a:endParaRPr/>
          </a:p>
        </p:txBody>
      </p:sp>
      <p:pic>
        <p:nvPicPr>
          <p:cNvPr id="128" name="Google Shape;1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125" y="142975"/>
            <a:ext cx="7495751" cy="4030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>
            <a:spLocks noGrp="1"/>
          </p:cNvSpPr>
          <p:nvPr>
            <p:ph type="body" idx="1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 u="sng"/>
              <a:t>2-7 часов:</a:t>
            </a:r>
            <a:endParaRPr b="1" u="sng"/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ул. Щорса - в Солнцевском районе Москвы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В ночное время 1 сентября наблюдались сбои в работе интернета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34" name="Google Shape;134;p23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Причины долгих транзакций</a:t>
            </a:r>
            <a:endParaRPr/>
          </a:p>
        </p:txBody>
      </p:sp>
      <p:sp>
        <p:nvSpPr>
          <p:cNvPr id="135" name="Google Shape;135;p23"/>
          <p:cNvSpPr txBox="1">
            <a:spLocks noGrp="1"/>
          </p:cNvSpPr>
          <p:nvPr>
            <p:ph type="body" idx="2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 u="sng"/>
              <a:t>10-16 часов:</a:t>
            </a:r>
            <a:endParaRPr b="1" u="sng"/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Маркетинговая акция-однодневка в ЮЗАО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ТТ на пр-те Вернадского и Ленинском пр-те находятся в ЮЗАО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Акция вызвала наплыв посетителей, а он - долгие транзакции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4"/>
          <p:cNvSpPr txBox="1">
            <a:spLocks noGrp="1"/>
          </p:cNvSpPr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Анализ инцидентов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5-7 сентября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>
            <a:spLocks noGrp="1"/>
          </p:cNvSpPr>
          <p:nvPr>
            <p:ph type="body" idx="1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3 среза по транзакциям со сбоями: все транзакции, обычные кассы и транзакции со скидкой</a:t>
            </a:r>
            <a:endParaRPr/>
          </a:p>
        </p:txBody>
      </p:sp>
      <p:pic>
        <p:nvPicPr>
          <p:cNvPr id="146" name="Google Shape;14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41098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6"/>
          <p:cNvSpPr txBox="1">
            <a:spLocks noGrp="1"/>
          </p:cNvSpPr>
          <p:nvPr>
            <p:ph type="body" idx="1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5 сентября сервер 1 перегружен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Наблюдается наименьшее количество транзакций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Тем не менее, транзакции 5 сентября аномально долгие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Время транзакции 5 сентября выше на 42,5%</a:t>
            </a:r>
            <a:endParaRPr/>
          </a:p>
        </p:txBody>
      </p:sp>
      <p:sp>
        <p:nvSpPr>
          <p:cNvPr id="152" name="Google Shape;152;p26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Сервер 1: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все ночные транзакции</a:t>
            </a:r>
            <a:endParaRPr/>
          </a:p>
        </p:txBody>
      </p:sp>
      <p:pic>
        <p:nvPicPr>
          <p:cNvPr id="153" name="Google Shape;15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5524" y="1491925"/>
            <a:ext cx="4695399" cy="215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7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Сервер 2: транзакции в 12-13 часов</a:t>
            </a:r>
            <a:endParaRPr/>
          </a:p>
        </p:txBody>
      </p:sp>
      <p:sp>
        <p:nvSpPr>
          <p:cNvPr id="159" name="Google Shape;159;p27"/>
          <p:cNvSpPr txBox="1">
            <a:spLocks noGrp="1"/>
          </p:cNvSpPr>
          <p:nvPr>
            <p:ph type="body" idx="1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7 сентября: перегрузка сервера 2 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Количество транзакций ниже обычного из-за высокой продолжительности обслуживания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Увеличение длительности на 69%</a:t>
            </a:r>
            <a:endParaRPr/>
          </a:p>
        </p:txBody>
      </p:sp>
      <p:pic>
        <p:nvPicPr>
          <p:cNvPr id="160" name="Google Shape;16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4350" y="1357275"/>
            <a:ext cx="5060550" cy="199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8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Сервер 1: тр-ии по программе лояльности</a:t>
            </a:r>
            <a:endParaRPr/>
          </a:p>
        </p:txBody>
      </p:sp>
      <p:sp>
        <p:nvSpPr>
          <p:cNvPr id="166" name="Google Shape;166;p28"/>
          <p:cNvSpPr txBox="1">
            <a:spLocks noGrp="1"/>
          </p:cNvSpPr>
          <p:nvPr>
            <p:ph type="body" idx="1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Сбои весь день 6 сентября на сервере 1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Увеличено как время транзакций, так и их количество</a:t>
            </a:r>
            <a:endParaRPr/>
          </a:p>
        </p:txBody>
      </p:sp>
      <p:pic>
        <p:nvPicPr>
          <p:cNvPr id="167" name="Google Shape;16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3275" y="1479438"/>
            <a:ext cx="5105624" cy="218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9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Маркетинговая акция 7 сентября</a:t>
            </a:r>
            <a:endParaRPr/>
          </a:p>
        </p:txBody>
      </p:sp>
      <p:sp>
        <p:nvSpPr>
          <p:cNvPr id="173" name="Google Shape;173;p29"/>
          <p:cNvSpPr txBox="1">
            <a:spLocks noGrp="1"/>
          </p:cNvSpPr>
          <p:nvPr>
            <p:ph type="body" idx="1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88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0F1119"/>
                </a:solidFill>
              </a:rPr>
              <a:t>В течение всего дня 7 сентября действовала маркетинговая акция, по которой любой предъявитель карты с программой лояльности за покупку свыше 15 000 ₽ получает дополнительный подарок.</a:t>
            </a:r>
            <a:endParaRPr sz="1200">
              <a:solidFill>
                <a:srgbClr val="0F1119"/>
              </a:solidFill>
            </a:endParaRPr>
          </a:p>
          <a:p>
            <a:pPr marL="0" lvl="0" indent="0" algn="l" rtl="0">
              <a:lnSpc>
                <a:spcPct val="188888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0F1119"/>
                </a:solidFill>
              </a:rPr>
              <a:t>Подарок разыгрывается в формате лотереи.</a:t>
            </a:r>
            <a:endParaRPr sz="1200">
              <a:solidFill>
                <a:srgbClr val="0F1119"/>
              </a:solidFill>
            </a:endParaRPr>
          </a:p>
          <a:p>
            <a:pPr marL="457200" lvl="0" indent="-304800" algn="l" rtl="0">
              <a:lnSpc>
                <a:spcPct val="188888"/>
              </a:lnSpc>
              <a:spcBef>
                <a:spcPts val="700"/>
              </a:spcBef>
              <a:spcAft>
                <a:spcPts val="0"/>
              </a:spcAft>
              <a:buClr>
                <a:srgbClr val="0F1119"/>
              </a:buClr>
              <a:buSzPts val="1200"/>
              <a:buChar char="●"/>
            </a:pPr>
            <a:r>
              <a:rPr lang="ru" sz="1200">
                <a:solidFill>
                  <a:srgbClr val="0F1119"/>
                </a:solidFill>
              </a:rPr>
              <a:t>Пятеро случайно выбранных счастливчиков получают подарок ценой 50 000 ₽.</a:t>
            </a:r>
            <a:endParaRPr sz="1200">
              <a:solidFill>
                <a:srgbClr val="0F1119"/>
              </a:solidFill>
            </a:endParaRPr>
          </a:p>
          <a:p>
            <a:pPr marL="457200" lvl="0" indent="-304800" algn="l" rtl="0">
              <a:lnSpc>
                <a:spcPct val="188888"/>
              </a:lnSpc>
              <a:spcBef>
                <a:spcPts val="0"/>
              </a:spcBef>
              <a:spcAft>
                <a:spcPts val="0"/>
              </a:spcAft>
              <a:buClr>
                <a:srgbClr val="0F1119"/>
              </a:buClr>
              <a:buSzPts val="1200"/>
              <a:buChar char="●"/>
            </a:pPr>
            <a:r>
              <a:rPr lang="ru" sz="1200">
                <a:solidFill>
                  <a:srgbClr val="0F1119"/>
                </a:solidFill>
              </a:rPr>
              <a:t>Еще десять получают подарок ценой 10 000 ₽.</a:t>
            </a:r>
            <a:endParaRPr sz="1200">
              <a:solidFill>
                <a:srgbClr val="0F1119"/>
              </a:solidFill>
            </a:endParaRPr>
          </a:p>
          <a:p>
            <a:pPr marL="457200" lvl="0" indent="-304800" algn="l" rtl="0">
              <a:lnSpc>
                <a:spcPct val="188888"/>
              </a:lnSpc>
              <a:spcBef>
                <a:spcPts val="0"/>
              </a:spcBef>
              <a:spcAft>
                <a:spcPts val="0"/>
              </a:spcAft>
              <a:buClr>
                <a:srgbClr val="0F1119"/>
              </a:buClr>
              <a:buSzPts val="1200"/>
              <a:buChar char="●"/>
            </a:pPr>
            <a:r>
              <a:rPr lang="ru" sz="1200">
                <a:solidFill>
                  <a:srgbClr val="0F1119"/>
                </a:solidFill>
              </a:rPr>
              <a:t>Все остальные подпадающие под условия акции получают подарок ценой 750 ₽.</a:t>
            </a:r>
            <a:endParaRPr sz="1200">
              <a:solidFill>
                <a:srgbClr val="0F1119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12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0"/>
          <p:cNvSpPr txBox="1">
            <a:spLocks noGrp="1"/>
          </p:cNvSpPr>
          <p:nvPr>
            <p:ph type="title"/>
          </p:nvPr>
        </p:nvSpPr>
        <p:spPr>
          <a:xfrm>
            <a:off x="311750" y="831175"/>
            <a:ext cx="8046600" cy="12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7900"/>
              <a:t>4 000 951,3 руб.</a:t>
            </a:r>
            <a:endParaRPr sz="7900"/>
          </a:p>
        </p:txBody>
      </p:sp>
      <p:sp>
        <p:nvSpPr>
          <p:cNvPr id="179" name="Google Shape;179;p30"/>
          <p:cNvSpPr txBox="1">
            <a:spLocks noGrp="1"/>
          </p:cNvSpPr>
          <p:nvPr>
            <p:ph type="body" idx="1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прибыли потеряно из-за скидок клиентам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1"/>
          <p:cNvSpPr txBox="1">
            <a:spLocks noGrp="1"/>
          </p:cNvSpPr>
          <p:nvPr>
            <p:ph type="body" idx="1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Чем больше размер скидки, тем больше прибыли мы теряем</a:t>
            </a:r>
            <a:endParaRPr/>
          </a:p>
        </p:txBody>
      </p:sp>
      <p:pic>
        <p:nvPicPr>
          <p:cNvPr id="185" name="Google Shape;18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4050" y="55217"/>
            <a:ext cx="6877050" cy="421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2"/>
          <p:cNvSpPr txBox="1">
            <a:spLocks noGrp="1"/>
          </p:cNvSpPr>
          <p:nvPr>
            <p:ph type="body" idx="1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уменьшаются потери при уменьшении скидок на 1 п.п.</a:t>
            </a:r>
            <a:endParaRPr/>
          </a:p>
        </p:txBody>
      </p:sp>
      <p:sp>
        <p:nvSpPr>
          <p:cNvPr id="191" name="Google Shape;191;p32"/>
          <p:cNvSpPr txBox="1">
            <a:spLocks noGrp="1"/>
          </p:cNvSpPr>
          <p:nvPr>
            <p:ph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-12,6%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3"/>
          <p:cNvSpPr txBox="1">
            <a:spLocks noGrp="1"/>
          </p:cNvSpPr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Автоматизация отчетности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3"/>
              </a:rPr>
              <a:t>Дашборд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524</Words>
  <Application>Microsoft Office PowerPoint</Application>
  <PresentationFormat>Экран (16:9)</PresentationFormat>
  <Paragraphs>76</Paragraphs>
  <Slides>21</Slides>
  <Notes>21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5" baseType="lpstr">
      <vt:lpstr>Merriweather</vt:lpstr>
      <vt:lpstr>Arial</vt:lpstr>
      <vt:lpstr>Roboto</vt:lpstr>
      <vt:lpstr>Paradigm</vt:lpstr>
      <vt:lpstr>Аналитика инцидентов 1-7 сентября </vt:lpstr>
      <vt:lpstr>Содержание</vt:lpstr>
      <vt:lpstr>Анализ инцидентов 1-4 сентября</vt:lpstr>
      <vt:lpstr>Рост количества транзакций: анализ причин</vt:lpstr>
      <vt:lpstr>Презентация PowerPoint</vt:lpstr>
      <vt:lpstr>А что с нагрузкой на сервера?</vt:lpstr>
      <vt:lpstr>Решение: перераспреде- ление нагрузки</vt:lpstr>
      <vt:lpstr>Кассы самообслу- живания (КСО)</vt:lpstr>
      <vt:lpstr>Влияние КСО на время транзакции</vt:lpstr>
      <vt:lpstr>Презентация PowerPoint</vt:lpstr>
      <vt:lpstr>Причины долгих транзакций</vt:lpstr>
      <vt:lpstr>Анализ инцидентов 5-7 сентября </vt:lpstr>
      <vt:lpstr>Презентация PowerPoint</vt:lpstr>
      <vt:lpstr>Сервер 1: все ночные транзакции</vt:lpstr>
      <vt:lpstr>Сервер 2: транзакции в 12-13 часов</vt:lpstr>
      <vt:lpstr>Сервер 1: тр-ии по программе лояльности</vt:lpstr>
      <vt:lpstr>Маркетинговая акция 7 сентября</vt:lpstr>
      <vt:lpstr>4 000 951,3 руб.</vt:lpstr>
      <vt:lpstr>Презентация PowerPoint</vt:lpstr>
      <vt:lpstr>-12,6%</vt:lpstr>
      <vt:lpstr>Автоматизация отчетности Дашборд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Аналитика инцидентов 1-7 сентября </dc:title>
  <cp:lastModifiedBy>Паньшина Дарья Алексеевна</cp:lastModifiedBy>
  <cp:revision>1</cp:revision>
  <dcterms:modified xsi:type="dcterms:W3CDTF">2026-10-22T14:26:29Z</dcterms:modified>
</cp:coreProperties>
</file>